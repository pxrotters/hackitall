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77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12" Type="http://schemas.openxmlformats.org/officeDocument/2006/relationships/image" Target="../media/image5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jpg"/><Relationship Id="rId5" Type="http://schemas.openxmlformats.org/officeDocument/2006/relationships/image" Target="../media/image3.png"/><Relationship Id="rId10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3.pn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3.png"/><Relationship Id="rId10" Type="http://schemas.openxmlformats.org/officeDocument/2006/relationships/image" Target="../media/image72.png"/><Relationship Id="rId4" Type="http://schemas.openxmlformats.org/officeDocument/2006/relationships/image" Target="../media/image2.png"/><Relationship Id="rId9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150" y="4141440"/>
            <a:ext cx="8267700" cy="148962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" y="38100"/>
            <a:ext cx="35036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 - Banking pentru Viitorul Nostalgic</a:t>
            </a:r>
            <a:endParaRPr lang="en-US" sz="1200" dirty="0"/>
          </a:p>
        </p:txBody>
      </p:sp>
      <p:sp>
        <p:nvSpPr>
          <p:cNvPr id="9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11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4686002" y="1322040"/>
            <a:ext cx="3383994" cy="1028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</a:t>
            </a:r>
            <a:endParaRPr lang="en-US" sz="5400" dirty="0"/>
          </a:p>
        </p:txBody>
      </p:sp>
      <p:sp>
        <p:nvSpPr>
          <p:cNvPr id="13" name="Text 5"/>
          <p:cNvSpPr/>
          <p:nvPr/>
        </p:nvSpPr>
        <p:spPr>
          <a:xfrm>
            <a:off x="1757243" y="2541240"/>
            <a:ext cx="867751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Banking pentru Viitorul Nostalgic</a:t>
            </a:r>
            <a:endParaRPr lang="en-US" sz="3600" dirty="0"/>
          </a:p>
        </p:txBody>
      </p:sp>
      <p:sp>
        <p:nvSpPr>
          <p:cNvPr id="14" name="Text 6"/>
          <p:cNvSpPr/>
          <p:nvPr/>
        </p:nvSpPr>
        <p:spPr>
          <a:xfrm>
            <a:off x="2970431" y="3417540"/>
            <a:ext cx="625113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 reinterpretare retro a serviciilor bancare moderne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2105025" y="4284315"/>
            <a:ext cx="79819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Membrii Echipei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2105025" y="4665315"/>
            <a:ext cx="7981950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Ciorgan Andrei-Florian
Florea Radu 
Lemnaru Mihai-Daniel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085850"/>
            <a:ext cx="1181100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38" y="1304925"/>
            <a:ext cx="390525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2076450"/>
            <a:ext cx="118110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238" y="2295525"/>
            <a:ext cx="39052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067050"/>
            <a:ext cx="118110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188" y="3286125"/>
            <a:ext cx="42862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4057650"/>
            <a:ext cx="118110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4276725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" y="5143500"/>
            <a:ext cx="118110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5086350"/>
            <a:ext cx="2857500" cy="15811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250" y="5181600"/>
            <a:ext cx="2667000" cy="2762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6248400"/>
            <a:ext cx="419100" cy="3238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6200" y="38100"/>
            <a:ext cx="16466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Problema - OldBank</a:t>
            </a:r>
            <a:endParaRPr lang="en-US" sz="1200" dirty="0"/>
          </a:p>
        </p:txBody>
      </p:sp>
      <p:sp>
        <p:nvSpPr>
          <p:cNvPr id="20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90500" y="495300"/>
            <a:ext cx="1181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De ce este necesară o soluție nouă?</a:t>
            </a:r>
            <a:endParaRPr lang="en-US" sz="2100" dirty="0"/>
          </a:p>
        </p:txBody>
      </p:sp>
      <p:sp>
        <p:nvSpPr>
          <p:cNvPr id="24" name="Text 5"/>
          <p:cNvSpPr/>
          <p:nvPr/>
        </p:nvSpPr>
        <p:spPr>
          <a:xfrm>
            <a:off x="1000125" y="13287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Aplicațiile bancare moderne sunt adesea percepute ca fiind sterile și lipsite de personalitate</a:t>
            </a:r>
            <a:endParaRPr lang="en-US" sz="1650" dirty="0"/>
          </a:p>
        </p:txBody>
      </p:sp>
      <p:sp>
        <p:nvSpPr>
          <p:cNvPr id="25" name="Text 6"/>
          <p:cNvSpPr/>
          <p:nvPr/>
        </p:nvSpPr>
        <p:spPr>
          <a:xfrm>
            <a:off x="1000125" y="23193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Interfețele corporatiste "flat design" nu oferă o experiență memorabilă sau plăcută</a:t>
            </a:r>
            <a:endParaRPr lang="en-US" sz="1650" dirty="0"/>
          </a:p>
        </p:txBody>
      </p:sp>
      <p:sp>
        <p:nvSpPr>
          <p:cNvPr id="26" name="Text 7"/>
          <p:cNvSpPr/>
          <p:nvPr/>
        </p:nvSpPr>
        <p:spPr>
          <a:xfrm>
            <a:off x="1000125" y="33099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Utilizatorii se simt deconectați de interfețele impersonale și complexe</a:t>
            </a:r>
            <a:endParaRPr lang="en-US" sz="1650" dirty="0"/>
          </a:p>
        </p:txBody>
      </p:sp>
      <p:sp>
        <p:nvSpPr>
          <p:cNvPr id="27" name="Text 8"/>
          <p:cNvSpPr/>
          <p:nvPr/>
        </p:nvSpPr>
        <p:spPr>
          <a:xfrm>
            <a:off x="1000125" y="43005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Ce-ar fi dacă banking-ul ar fi la fel de simplu și familiar ca Windows 98?</a:t>
            </a:r>
            <a:endParaRPr lang="en-US" sz="1650" dirty="0"/>
          </a:p>
        </p:txBody>
      </p:sp>
      <p:sp>
        <p:nvSpPr>
          <p:cNvPr id="28" name="Text 9"/>
          <p:cNvSpPr/>
          <p:nvPr/>
        </p:nvSpPr>
        <p:spPr>
          <a:xfrm>
            <a:off x="155525" y="5237783"/>
            <a:ext cx="11811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Ce soluție oferim noi?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>
            <a:off x="9239250" y="5181600"/>
            <a:ext cx="2667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Windows 98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9239250" y="5553075"/>
            <a:ext cx="26670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Eroare: Nu s-a putut conecta la serviciul bancar modern. Vă rugăm să încercați mai târziu.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10458450" y="6248400"/>
            <a:ext cx="4191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OK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5E312B-33B5-35F8-0DD8-7FF49796C87A}"/>
              </a:ext>
            </a:extLst>
          </p:cNvPr>
          <p:cNvSpPr txBox="1"/>
          <p:nvPr/>
        </p:nvSpPr>
        <p:spPr>
          <a:xfrm>
            <a:off x="190502" y="6054600"/>
            <a:ext cx="20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50000B-4726-3350-82EF-B0C1845F1651}"/>
              </a:ext>
            </a:extLst>
          </p:cNvPr>
          <p:cNvSpPr txBox="1"/>
          <p:nvPr/>
        </p:nvSpPr>
        <p:spPr>
          <a:xfrm>
            <a:off x="190500" y="6275289"/>
            <a:ext cx="388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Go to settings to 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085850"/>
            <a:ext cx="8734425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38" y="1304925"/>
            <a:ext cx="390525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2076450"/>
            <a:ext cx="8772525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2295525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067050"/>
            <a:ext cx="8772525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188" y="3286125"/>
            <a:ext cx="42862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" y="3962400"/>
            <a:ext cx="3310384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700" y="4010025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0675" y="619125"/>
            <a:ext cx="2667000" cy="2095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3775" y="639342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34750" y="641528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5725" y="641528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0200" y="804863"/>
            <a:ext cx="2667000" cy="18859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1841" y="1106310"/>
            <a:ext cx="2476500" cy="2095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0200" y="1694527"/>
            <a:ext cx="2476500" cy="2095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06000" y="1971675"/>
            <a:ext cx="952500" cy="2857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76200" y="38100"/>
            <a:ext cx="2175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Soluția OldBank - OldBank</a:t>
            </a:r>
            <a:endParaRPr lang="en-US" sz="1200" dirty="0"/>
          </a:p>
        </p:txBody>
      </p:sp>
      <p:sp>
        <p:nvSpPr>
          <p:cNvPr id="24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5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90500" y="495300"/>
            <a:ext cx="1181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Ce oferim și de ce este diferit?</a:t>
            </a:r>
            <a:endParaRPr lang="en-US" sz="2100" dirty="0"/>
          </a:p>
        </p:txBody>
      </p:sp>
      <p:sp>
        <p:nvSpPr>
          <p:cNvPr id="28" name="Text 5"/>
          <p:cNvSpPr/>
          <p:nvPr/>
        </p:nvSpPr>
        <p:spPr>
          <a:xfrm>
            <a:off x="1000125" y="13287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 platformă complet funcțională de banking (simulat) </a:t>
            </a:r>
            <a:r>
              <a:rPr lang="en-US" sz="16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și</a:t>
            </a: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recrutare</a:t>
            </a: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.</a:t>
            </a:r>
            <a:endParaRPr lang="en-US" sz="1650" dirty="0"/>
          </a:p>
        </p:txBody>
      </p:sp>
      <p:sp>
        <p:nvSpPr>
          <p:cNvPr id="29" name="Text 6"/>
          <p:cNvSpPr/>
          <p:nvPr/>
        </p:nvSpPr>
        <p:spPr>
          <a:xfrm>
            <a:off x="1000125" y="23193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Nostalgie + Funcționalitate Modernă într-o singură experiență</a:t>
            </a:r>
            <a:endParaRPr lang="en-US" sz="1650" dirty="0"/>
          </a:p>
        </p:txBody>
      </p:sp>
      <p:sp>
        <p:nvSpPr>
          <p:cNvPr id="30" name="Text 7"/>
          <p:cNvSpPr/>
          <p:nvPr/>
        </p:nvSpPr>
        <p:spPr>
          <a:xfrm>
            <a:off x="1000125" y="3309938"/>
            <a:ext cx="130302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Interfață intuitivă pentru oricine a folosit un PC în anii 2000</a:t>
            </a:r>
            <a:endParaRPr lang="en-US" sz="1650" dirty="0"/>
          </a:p>
        </p:txBody>
      </p:sp>
      <p:sp>
        <p:nvSpPr>
          <p:cNvPr id="31" name="Text 8"/>
          <p:cNvSpPr/>
          <p:nvPr/>
        </p:nvSpPr>
        <p:spPr>
          <a:xfrm>
            <a:off x="400050" y="3962400"/>
            <a:ext cx="397246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Element Cheie: Autenticitate Windows 98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9239250" y="616938"/>
            <a:ext cx="26670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 Login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9240738" y="885048"/>
            <a:ext cx="24765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Nume utilizator:</a:t>
            </a:r>
            <a:endParaRPr lang="en-US" sz="900" dirty="0"/>
          </a:p>
        </p:txBody>
      </p:sp>
      <p:sp>
        <p:nvSpPr>
          <p:cNvPr id="34" name="Text 11"/>
          <p:cNvSpPr/>
          <p:nvPr/>
        </p:nvSpPr>
        <p:spPr>
          <a:xfrm>
            <a:off x="9239250" y="1122978"/>
            <a:ext cx="2476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oldbanker</a:t>
            </a:r>
            <a:endParaRPr lang="en-US" sz="900" dirty="0"/>
          </a:p>
        </p:txBody>
      </p:sp>
      <p:sp>
        <p:nvSpPr>
          <p:cNvPr id="35" name="Text 12"/>
          <p:cNvSpPr/>
          <p:nvPr/>
        </p:nvSpPr>
        <p:spPr>
          <a:xfrm>
            <a:off x="9239250" y="1428750"/>
            <a:ext cx="24765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Parolă:</a:t>
            </a:r>
            <a:endParaRPr lang="en-US" sz="900" dirty="0"/>
          </a:p>
        </p:txBody>
      </p:sp>
      <p:sp>
        <p:nvSpPr>
          <p:cNvPr id="36" name="Text 13"/>
          <p:cNvSpPr/>
          <p:nvPr/>
        </p:nvSpPr>
        <p:spPr>
          <a:xfrm>
            <a:off x="9245082" y="1714500"/>
            <a:ext cx="2476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********</a:t>
            </a:r>
            <a:endParaRPr lang="en-US" sz="900" dirty="0"/>
          </a:p>
        </p:txBody>
      </p:sp>
      <p:sp>
        <p:nvSpPr>
          <p:cNvPr id="37" name="Text 14"/>
          <p:cNvSpPr/>
          <p:nvPr/>
        </p:nvSpPr>
        <p:spPr>
          <a:xfrm>
            <a:off x="9963150" y="1971675"/>
            <a:ext cx="1143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Autentificare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896350" y="2352675"/>
            <a:ext cx="29718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Vom începe o călătorie nostalgica!</a:t>
            </a:r>
            <a:endParaRPr lang="en-US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3BA450-B365-35B2-D421-3D3533D6762E}"/>
              </a:ext>
            </a:extLst>
          </p:cNvPr>
          <p:cNvSpPr txBox="1"/>
          <p:nvPr/>
        </p:nvSpPr>
        <p:spPr>
          <a:xfrm>
            <a:off x="8305024" y="6275289"/>
            <a:ext cx="20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82ED63-6CB3-28FE-B777-5FABE3A8A61C}"/>
              </a:ext>
            </a:extLst>
          </p:cNvPr>
          <p:cNvSpPr txBox="1"/>
          <p:nvPr/>
        </p:nvSpPr>
        <p:spPr>
          <a:xfrm>
            <a:off x="8305022" y="6495978"/>
            <a:ext cx="388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Go to settings to 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143000"/>
            <a:ext cx="581025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1781175"/>
            <a:ext cx="5810250" cy="771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024062"/>
            <a:ext cx="2667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2695575"/>
            <a:ext cx="5810250" cy="7715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288" y="2938463"/>
            <a:ext cx="2000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3609975"/>
            <a:ext cx="5810250" cy="771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852863"/>
            <a:ext cx="2667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43000"/>
            <a:ext cx="5810250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1781175"/>
            <a:ext cx="5810250" cy="7715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6038" y="2024062"/>
            <a:ext cx="2000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695575"/>
            <a:ext cx="5810250" cy="7715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6988" y="2938463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609975"/>
            <a:ext cx="5810250" cy="7715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363" y="3852863"/>
            <a:ext cx="3333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715000"/>
            <a:ext cx="10972800" cy="952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7647" y="5776913"/>
            <a:ext cx="3429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9250" y="5776913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00854" y="5776913"/>
            <a:ext cx="266700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76200" y="38100"/>
            <a:ext cx="24261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Arhitectura Tehnică - OldBank</a:t>
            </a:r>
            <a:endParaRPr lang="en-US" sz="1200" dirty="0"/>
          </a:p>
        </p:txBody>
      </p:sp>
      <p:sp>
        <p:nvSpPr>
          <p:cNvPr id="26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7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-990600" y="495300"/>
            <a:ext cx="1417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Arhitectura Tehnică (Under the Hood)</a:t>
            </a:r>
            <a:endParaRPr lang="en-US" sz="2400" dirty="0"/>
          </a:p>
        </p:txBody>
      </p:sp>
      <p:sp>
        <p:nvSpPr>
          <p:cNvPr id="30" name="Text 5"/>
          <p:cNvSpPr/>
          <p:nvPr/>
        </p:nvSpPr>
        <p:spPr>
          <a:xfrm>
            <a:off x="190500" y="1209675"/>
            <a:ext cx="581025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Frontend</a:t>
            </a:r>
            <a:endParaRPr lang="en-US" sz="1800" dirty="0"/>
          </a:p>
        </p:txBody>
      </p:sp>
      <p:sp>
        <p:nvSpPr>
          <p:cNvPr id="31" name="Text 6"/>
          <p:cNvSpPr/>
          <p:nvPr/>
        </p:nvSpPr>
        <p:spPr>
          <a:xfrm>
            <a:off x="828675" y="1895475"/>
            <a:ext cx="454595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React + TypeScript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828675" y="2209800"/>
            <a:ext cx="54551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Pentru performanță și type safety, construirea interfeței utilizatorului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828675" y="2809875"/>
            <a:ext cx="3185368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Vite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828675" y="3124200"/>
            <a:ext cx="38224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Build tool ultra-rapid pentru dezvoltare eficientă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828675" y="3724275"/>
            <a:ext cx="3574703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98.css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828675" y="4038600"/>
            <a:ext cx="42896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Design system pentru estetica autentică Windows 98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156275" y="1216819"/>
            <a:ext cx="581025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Backend</a:t>
            </a:r>
            <a:endParaRPr lang="en-US" sz="1800" dirty="0"/>
          </a:p>
        </p:txBody>
      </p:sp>
      <p:sp>
        <p:nvSpPr>
          <p:cNvPr id="38" name="Text 13"/>
          <p:cNvSpPr/>
          <p:nvPr/>
        </p:nvSpPr>
        <p:spPr>
          <a:xfrm>
            <a:off x="6829425" y="1895475"/>
            <a:ext cx="3845868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Java Spring Boot</a:t>
            </a:r>
            <a:endParaRPr lang="en-US" sz="1500" dirty="0"/>
          </a:p>
        </p:txBody>
      </p:sp>
      <p:sp>
        <p:nvSpPr>
          <p:cNvPr id="39" name="Text 14"/>
          <p:cNvSpPr/>
          <p:nvPr/>
        </p:nvSpPr>
        <p:spPr>
          <a:xfrm>
            <a:off x="6829425" y="2209800"/>
            <a:ext cx="46150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Robustețe și securitate enterprise pentru servicii bancare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829425" y="2809875"/>
            <a:ext cx="3693914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41" name="Text 16"/>
          <p:cNvSpPr/>
          <p:nvPr/>
        </p:nvSpPr>
        <p:spPr>
          <a:xfrm>
            <a:off x="6829425" y="3124200"/>
            <a:ext cx="44326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Bază de date relațională fiabilă pentru stocarea datelor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6829425" y="3724275"/>
            <a:ext cx="362575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Docker</a:t>
            </a:r>
            <a:endParaRPr lang="en-US" sz="1500" dirty="0"/>
          </a:p>
        </p:txBody>
      </p:sp>
      <p:sp>
        <p:nvSpPr>
          <p:cNvPr id="43" name="Text 18"/>
          <p:cNvSpPr/>
          <p:nvPr/>
        </p:nvSpPr>
        <p:spPr>
          <a:xfrm>
            <a:off x="6829425" y="4038600"/>
            <a:ext cx="43509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Containerizare pentru deployment ușor și scalabilitate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704850" y="6015038"/>
            <a:ext cx="20847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Diagramă Arhitectură</a:t>
            </a:r>
            <a:endParaRPr lang="en-US" sz="1350" dirty="0"/>
          </a:p>
        </p:txBody>
      </p:sp>
      <p:sp>
        <p:nvSpPr>
          <p:cNvPr id="45" name="Text 20"/>
          <p:cNvSpPr/>
          <p:nvPr/>
        </p:nvSpPr>
        <p:spPr>
          <a:xfrm>
            <a:off x="3381226" y="6215063"/>
            <a:ext cx="11755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Frontend
(Windows 98 UI)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5496074" y="6019800"/>
            <a:ext cx="2743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Text 22"/>
          <p:cNvSpPr/>
          <p:nvPr/>
        </p:nvSpPr>
        <p:spPr>
          <a:xfrm>
            <a:off x="6764834" y="6215063"/>
            <a:ext cx="97348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Backend
(Spring Boot)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8778627" y="6019800"/>
            <a:ext cx="2743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Text 24"/>
          <p:cNvSpPr/>
          <p:nvPr/>
        </p:nvSpPr>
        <p:spPr>
          <a:xfrm>
            <a:off x="10017472" y="6215063"/>
            <a:ext cx="103331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PostgreSQL
(Stocare Date)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" y="1038225"/>
            <a:ext cx="3873401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" y="1190625"/>
            <a:ext cx="2857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" y="1604963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" y="1852612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9151" y="1038225"/>
            <a:ext cx="387355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3451" y="1190625"/>
            <a:ext cx="1714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451" y="1604963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451" y="1852612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5575" y="1038225"/>
            <a:ext cx="3873401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9875" y="1190625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875" y="1604963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875" y="1852612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" y="2324100"/>
            <a:ext cx="3873401" cy="114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175" y="2476500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" y="2890838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" y="3138488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9151" y="2324100"/>
            <a:ext cx="3873550" cy="1143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3451" y="2476500"/>
            <a:ext cx="142875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451" y="2890838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451" y="3138488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5575" y="2324100"/>
            <a:ext cx="3873401" cy="1143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9875" y="2476500"/>
            <a:ext cx="257175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875" y="2890838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875" y="3138488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" y="6438900"/>
            <a:ext cx="718691" cy="3238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500" y="6524625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30000" y="6572250"/>
            <a:ext cx="190500" cy="1905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68100" y="6610350"/>
            <a:ext cx="114300" cy="1143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68125" y="6572250"/>
            <a:ext cx="190500" cy="1905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91938" y="6610350"/>
            <a:ext cx="142875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06250" y="6572250"/>
            <a:ext cx="190500" cy="1905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949113" y="6610350"/>
            <a:ext cx="104775" cy="1143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76200" y="38100"/>
            <a:ext cx="28462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Funcționalități Principale - OldBank</a:t>
            </a:r>
            <a:endParaRPr lang="en-US" sz="1200" dirty="0"/>
          </a:p>
        </p:txBody>
      </p:sp>
      <p:sp>
        <p:nvSpPr>
          <p:cNvPr id="40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142875" y="447675"/>
            <a:ext cx="119062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Funcționalități Principale OldBank</a:t>
            </a:r>
            <a:endParaRPr lang="en-US" sz="2100" dirty="0"/>
          </a:p>
        </p:txBody>
      </p:sp>
      <p:sp>
        <p:nvSpPr>
          <p:cNvPr id="44" name="Text 5"/>
          <p:cNvSpPr/>
          <p:nvPr/>
        </p:nvSpPr>
        <p:spPr>
          <a:xfrm>
            <a:off x="638175" y="1152525"/>
            <a:ext cx="437376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Sistem de Autentificare</a:t>
            </a:r>
            <a:endParaRPr lang="en-US" sz="1350" dirty="0"/>
          </a:p>
        </p:txBody>
      </p:sp>
      <p:sp>
        <p:nvSpPr>
          <p:cNvPr id="45" name="Text 6"/>
          <p:cNvSpPr/>
          <p:nvPr/>
        </p:nvSpPr>
        <p:spPr>
          <a:xfrm>
            <a:off x="247650" y="1571625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Login/Register sigur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247650" y="1819275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Protecție CSRF</a:t>
            </a:r>
            <a:endParaRPr lang="en-US" sz="1050" dirty="0"/>
          </a:p>
        </p:txBody>
      </p:sp>
      <p:sp>
        <p:nvSpPr>
          <p:cNvPr id="47" name="Text 8"/>
          <p:cNvSpPr/>
          <p:nvPr/>
        </p:nvSpPr>
        <p:spPr>
          <a:xfrm>
            <a:off x="4540151" y="1152525"/>
            <a:ext cx="3644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Portal Corporativ</a:t>
            </a:r>
            <a:endParaRPr lang="en-US" sz="1350" dirty="0"/>
          </a:p>
        </p:txBody>
      </p:sp>
      <p:sp>
        <p:nvSpPr>
          <p:cNvPr id="48" name="Text 9"/>
          <p:cNvSpPr/>
          <p:nvPr/>
        </p:nvSpPr>
        <p:spPr>
          <a:xfrm>
            <a:off x="4263926" y="1571625"/>
            <a:ext cx="3835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Secțiuni de Cariere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4263926" y="1819275"/>
            <a:ext cx="3835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Internship-uri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8670875" y="1152525"/>
            <a:ext cx="364480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CSR &amp; Comunitate</a:t>
            </a:r>
            <a:endParaRPr lang="en-US" sz="1350" dirty="0"/>
          </a:p>
        </p:txBody>
      </p:sp>
      <p:sp>
        <p:nvSpPr>
          <p:cNvPr id="51" name="Text 12"/>
          <p:cNvSpPr/>
          <p:nvPr/>
        </p:nvSpPr>
        <p:spPr>
          <a:xfrm>
            <a:off x="8280350" y="1571625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Module pentru Educație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8280350" y="1819275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Mediu și Social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581025" y="2438400"/>
            <a:ext cx="437376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Mod Întunecat/Luminos</a:t>
            </a:r>
            <a:endParaRPr lang="en-US" sz="1350" dirty="0"/>
          </a:p>
        </p:txBody>
      </p:sp>
      <p:sp>
        <p:nvSpPr>
          <p:cNvPr id="54" name="Text 15"/>
          <p:cNvSpPr/>
          <p:nvPr/>
        </p:nvSpPr>
        <p:spPr>
          <a:xfrm>
            <a:off x="247650" y="285750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Comutare dinamică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247650" y="310515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Teme diferite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4511576" y="2438400"/>
            <a:ext cx="36449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Interactivitate</a:t>
            </a:r>
            <a:endParaRPr lang="en-US" sz="1350" dirty="0"/>
          </a:p>
        </p:txBody>
      </p:sp>
      <p:sp>
        <p:nvSpPr>
          <p:cNvPr id="57" name="Text 18"/>
          <p:cNvSpPr/>
          <p:nvPr/>
        </p:nvSpPr>
        <p:spPr>
          <a:xfrm>
            <a:off x="4263926" y="2857500"/>
            <a:ext cx="46025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Ferestre care se pot muta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4263926" y="3105150"/>
            <a:ext cx="3835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Butoane 3D clicky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8642300" y="2438400"/>
            <a:ext cx="437376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Estetică Windows 98</a:t>
            </a:r>
            <a:endParaRPr lang="en-US" sz="1350" dirty="0"/>
          </a:p>
        </p:txBody>
      </p:sp>
      <p:sp>
        <p:nvSpPr>
          <p:cNvPr id="60" name="Text 21"/>
          <p:cNvSpPr/>
          <p:nvPr/>
        </p:nvSpPr>
        <p:spPr>
          <a:xfrm>
            <a:off x="8280350" y="285750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Interfață retro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8280350" y="310515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Familiaritate</a:t>
            </a: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371475" y="6486525"/>
            <a:ext cx="862429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Start</a:t>
            </a:r>
            <a:endParaRPr lang="en-US" sz="1200" dirty="0"/>
          </a:p>
        </p:txBody>
      </p:sp>
      <p:pic>
        <p:nvPicPr>
          <p:cNvPr id="67" name="Image 17" descr="preencoded.png">
            <a:extLst>
              <a:ext uri="{FF2B5EF4-FFF2-40B4-BE49-F238E27FC236}">
                <a16:creationId xmlns:a16="http://schemas.microsoft.com/office/drawing/2014/main" id="{3908D127-C407-D275-FBE6-8E1A155C0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53" y="3614738"/>
            <a:ext cx="3873401" cy="1143000"/>
          </a:xfrm>
          <a:prstGeom prst="rect">
            <a:avLst/>
          </a:prstGeom>
        </p:spPr>
      </p:pic>
      <p:pic>
        <p:nvPicPr>
          <p:cNvPr id="69" name="Image 19" descr="preencoded.png">
            <a:extLst>
              <a:ext uri="{FF2B5EF4-FFF2-40B4-BE49-F238E27FC236}">
                <a16:creationId xmlns:a16="http://schemas.microsoft.com/office/drawing/2014/main" id="{113AAF11-9274-71BF-4C7F-46F9130F5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" y="4132878"/>
            <a:ext cx="133350" cy="133350"/>
          </a:xfrm>
          <a:prstGeom prst="rect">
            <a:avLst/>
          </a:prstGeom>
        </p:spPr>
      </p:pic>
      <p:pic>
        <p:nvPicPr>
          <p:cNvPr id="70" name="Image 20" descr="preencoded.png">
            <a:extLst>
              <a:ext uri="{FF2B5EF4-FFF2-40B4-BE49-F238E27FC236}">
                <a16:creationId xmlns:a16="http://schemas.microsoft.com/office/drawing/2014/main" id="{AE4AE084-183F-F5F8-77CC-766D70656B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" y="4380528"/>
            <a:ext cx="133350" cy="13335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1C961733-4038-829C-2F19-F478208964B5}"/>
              </a:ext>
            </a:extLst>
          </p:cNvPr>
          <p:cNvSpPr/>
          <p:nvPr/>
        </p:nvSpPr>
        <p:spPr>
          <a:xfrm>
            <a:off x="257175" y="409954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Comunicare</a:t>
            </a: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</a:t>
            </a:r>
            <a:r>
              <a:rPr lang="ro-RO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cu asistentul bancar </a:t>
            </a: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“</a:t>
            </a:r>
            <a:r>
              <a:rPr lang="en-US" sz="10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Clippy</a:t>
            </a: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”</a:t>
            </a:r>
            <a:endParaRPr lang="en-US" sz="105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5D3F8BEC-9F8D-4C27-5973-0B14E89EF643}"/>
              </a:ext>
            </a:extLst>
          </p:cNvPr>
          <p:cNvSpPr/>
          <p:nvPr/>
        </p:nvSpPr>
        <p:spPr>
          <a:xfrm>
            <a:off x="257175" y="4347190"/>
            <a:ext cx="3835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0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</a:rPr>
              <a:t>Raport</a:t>
            </a: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</a:rPr>
              <a:t>generat</a:t>
            </a: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</a:rPr>
              <a:t> de “What If Analysis” </a:t>
            </a:r>
            <a:endParaRPr lang="en-US" sz="105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A2EC66BF-FB81-E6C4-6BEB-DE45A8B9198A}"/>
              </a:ext>
            </a:extLst>
          </p:cNvPr>
          <p:cNvSpPr/>
          <p:nvPr/>
        </p:nvSpPr>
        <p:spPr>
          <a:xfrm>
            <a:off x="581024" y="3720969"/>
            <a:ext cx="437376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ro-RO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Comunicare eficienta cu AI</a:t>
            </a:r>
            <a:endParaRPr lang="en-US" sz="1350" dirty="0"/>
          </a:p>
        </p:txBody>
      </p:sp>
      <p:pic>
        <p:nvPicPr>
          <p:cNvPr id="66" name="Image 8" descr="preencoded.png">
            <a:extLst>
              <a:ext uri="{FF2B5EF4-FFF2-40B4-BE49-F238E27FC236}">
                <a16:creationId xmlns:a16="http://schemas.microsoft.com/office/drawing/2014/main" id="{5B270A1D-096A-7DC4-8F6F-6D7A37EA95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6390" y="3711396"/>
            <a:ext cx="310170" cy="248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839" y="1316236"/>
            <a:ext cx="2190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340" y="1659136"/>
            <a:ext cx="4786367" cy="243700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8419" y="1337504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4800600"/>
            <a:ext cx="11811000" cy="94297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" y="53625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6327" y="53625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3595" y="53625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332" y="5362575"/>
            <a:ext cx="1524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76200" y="38100"/>
            <a:ext cx="3557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Demonstrație și Capturi de Ecran - OldBank</a:t>
            </a:r>
            <a:endParaRPr lang="en-US" sz="1200" dirty="0"/>
          </a:p>
        </p:txBody>
      </p:sp>
      <p:sp>
        <p:nvSpPr>
          <p:cNvPr id="27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8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90500" y="495300"/>
            <a:ext cx="1181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Vizualizare Interfață OldBank</a:t>
            </a:r>
            <a:endParaRPr lang="en-US" sz="2100" dirty="0"/>
          </a:p>
        </p:txBody>
      </p:sp>
      <p:sp>
        <p:nvSpPr>
          <p:cNvPr id="31" name="Text 5"/>
          <p:cNvSpPr/>
          <p:nvPr/>
        </p:nvSpPr>
        <p:spPr>
          <a:xfrm>
            <a:off x="2087662" y="1266825"/>
            <a:ext cx="2297787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Interfața Utilizator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10682734" y="1743075"/>
            <a:ext cx="19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10907613" y="1743075"/>
            <a:ext cx="19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1137850" y="1743075"/>
            <a:ext cx="19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7093595" y="4197026"/>
            <a:ext cx="5166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Vă rugăm să vă autentificați pentru a accesa serviciile bancare.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333375" y="4943475"/>
            <a:ext cx="11525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Funcționalități evidențiate</a:t>
            </a:r>
            <a:endParaRPr lang="en-US" sz="1500" dirty="0"/>
          </a:p>
        </p:txBody>
      </p:sp>
      <p:sp>
        <p:nvSpPr>
          <p:cNvPr id="42" name="Text 16"/>
          <p:cNvSpPr/>
          <p:nvPr/>
        </p:nvSpPr>
        <p:spPr>
          <a:xfrm>
            <a:off x="561975" y="5324475"/>
            <a:ext cx="24190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Interfață retro stil Windows 98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4174927" y="5324475"/>
            <a:ext cx="1860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Sistem de autentificare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7322195" y="5324475"/>
            <a:ext cx="13315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Portal corporativ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10028932" y="5324475"/>
            <a:ext cx="21956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Module CSR &amp; Comunitate</a:t>
            </a:r>
            <a:endParaRPr lang="en-US" sz="1200" dirty="0"/>
          </a:p>
        </p:txBody>
      </p:sp>
      <p:pic>
        <p:nvPicPr>
          <p:cNvPr id="47" name="Picture 46" descr="A computer screen with a grid and a few boxes&#10;&#10;AI-generated content may be incorrect.">
            <a:extLst>
              <a:ext uri="{FF2B5EF4-FFF2-40B4-BE49-F238E27FC236}">
                <a16:creationId xmlns:a16="http://schemas.microsoft.com/office/drawing/2014/main" id="{F9E97CA5-00A2-4D30-2FD6-E877E11FF1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790" y="1685925"/>
            <a:ext cx="4760917" cy="2410214"/>
          </a:xfrm>
          <a:prstGeom prst="rect">
            <a:avLst/>
          </a:prstGeom>
        </p:spPr>
      </p:pic>
      <p:pic>
        <p:nvPicPr>
          <p:cNvPr id="51" name="Picture 50" descr="A computer screen with a screen and a grid&#10;&#10;AI-generated content may be incorrect.">
            <a:extLst>
              <a:ext uri="{FF2B5EF4-FFF2-40B4-BE49-F238E27FC236}">
                <a16:creationId xmlns:a16="http://schemas.microsoft.com/office/drawing/2014/main" id="{BC8E7D47-9444-A099-96F3-BA087FE8A5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7035" y="1662228"/>
            <a:ext cx="4891049" cy="2430818"/>
          </a:xfrm>
          <a:prstGeom prst="rect">
            <a:avLst/>
          </a:prstGeom>
        </p:spPr>
      </p:pic>
      <p:sp>
        <p:nvSpPr>
          <p:cNvPr id="52" name="Text 5">
            <a:extLst>
              <a:ext uri="{FF2B5EF4-FFF2-40B4-BE49-F238E27FC236}">
                <a16:creationId xmlns:a16="http://schemas.microsoft.com/office/drawing/2014/main" id="{092ABC08-A6C7-CE18-FB69-507BB76C3937}"/>
              </a:ext>
            </a:extLst>
          </p:cNvPr>
          <p:cNvSpPr/>
          <p:nvPr/>
        </p:nvSpPr>
        <p:spPr>
          <a:xfrm>
            <a:off x="7987992" y="1270829"/>
            <a:ext cx="2297787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 err="1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Paginile</a:t>
            </a: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</a:t>
            </a:r>
            <a:r>
              <a:rPr lang="en-US" sz="1500" b="1" dirty="0" err="1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principale</a:t>
            </a:r>
            <a:endParaRPr lang="en-US" sz="15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F58205-76E4-83BF-4311-46E78E52111A}"/>
              </a:ext>
            </a:extLst>
          </p:cNvPr>
          <p:cNvSpPr txBox="1"/>
          <p:nvPr/>
        </p:nvSpPr>
        <p:spPr>
          <a:xfrm>
            <a:off x="8375117" y="6267450"/>
            <a:ext cx="20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AFA638-31D5-DD30-FFA3-1F680E627D97}"/>
              </a:ext>
            </a:extLst>
          </p:cNvPr>
          <p:cNvSpPr txBox="1"/>
          <p:nvPr/>
        </p:nvSpPr>
        <p:spPr>
          <a:xfrm>
            <a:off x="8375115" y="6488139"/>
            <a:ext cx="388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Go to settings to 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181100"/>
            <a:ext cx="3543300" cy="2190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1400175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350" y="1181100"/>
            <a:ext cx="3543300" cy="2190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688" y="1400175"/>
            <a:ext cx="42862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1181100"/>
            <a:ext cx="3543300" cy="2190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400175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" y="3657600"/>
            <a:ext cx="118110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5419725"/>
            <a:ext cx="2857500" cy="1247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250" y="5514975"/>
            <a:ext cx="2667000" cy="2762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0" y="6381750"/>
            <a:ext cx="26670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0" y="6381750"/>
            <a:ext cx="1866900" cy="1905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" y="38100"/>
            <a:ext cx="23140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Concluzie și Viitor - OldBank</a:t>
            </a:r>
            <a:endParaRPr lang="en-US" sz="1200" dirty="0"/>
          </a:p>
        </p:txBody>
      </p:sp>
      <p:sp>
        <p:nvSpPr>
          <p:cNvPr id="19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0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90500" y="495300"/>
            <a:ext cx="1181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Roadmap pentru dezvoltarea continuă</a:t>
            </a:r>
            <a:endParaRPr lang="en-US" sz="2100" dirty="0"/>
          </a:p>
        </p:txBody>
      </p:sp>
      <p:sp>
        <p:nvSpPr>
          <p:cNvPr id="23" name="Text 5"/>
          <p:cNvSpPr/>
          <p:nvPr/>
        </p:nvSpPr>
        <p:spPr>
          <a:xfrm>
            <a:off x="7620" y="1933575"/>
            <a:ext cx="39090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Tranzacții Reale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333375" y="2314575"/>
            <a:ext cx="3257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Implementarea unui sistem robust pentru gestionarea </a:t>
            </a:r>
            <a:r>
              <a:rPr lang="en-US" sz="120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tranzacțiilor</a:t>
            </a: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financiare</a:t>
            </a: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cu potențial de integrare reală.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4467225" y="1933575"/>
            <a:ext cx="32575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Asistent AI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4467225" y="2314575"/>
            <a:ext cx="3257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Integrarea unui asistent bancar AI, inspirat de "Clippy", care să ofere suport utilizorilor într-un mod prietenos și nostalgic.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8275320" y="1933575"/>
            <a:ext cx="39090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Extensii Funcționale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8601075" y="2314575"/>
            <a:ext cx="32575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Explorarea și adăugarea de noi module și servicii care să îmbunătățească experiența bancară, toate integrate </a:t>
            </a:r>
            <a:r>
              <a:rPr lang="en-US" sz="1200" dirty="0" err="1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 interfața Windows 98.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381000" y="3848100"/>
            <a:ext cx="11430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 nu este doar un exercițiu de nostalgie, ci o demonstrație că tehnologia modernă poate coexista cu farmecul și simplitatea trecutului.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9239250" y="5514975"/>
            <a:ext cx="32004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Închidere Windows 98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9239250" y="5886450"/>
            <a:ext cx="2667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Se închide aplicația OldBank. Vă mulțumiți pentru utilizare!</a:t>
            </a:r>
            <a:endParaRPr 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79E8A-D0EB-4D4A-8D87-8A6B95685EC5}"/>
              </a:ext>
            </a:extLst>
          </p:cNvPr>
          <p:cNvSpPr txBox="1"/>
          <p:nvPr/>
        </p:nvSpPr>
        <p:spPr>
          <a:xfrm>
            <a:off x="68650" y="6264473"/>
            <a:ext cx="20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67D627-5B1B-629C-5E41-66F328AB1F5F}"/>
              </a:ext>
            </a:extLst>
          </p:cNvPr>
          <p:cNvSpPr txBox="1"/>
          <p:nvPr/>
        </p:nvSpPr>
        <p:spPr>
          <a:xfrm>
            <a:off x="68648" y="6485162"/>
            <a:ext cx="388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Go to settings to 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7625"/>
            <a:ext cx="209550" cy="209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47625"/>
            <a:ext cx="2095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0" y="47625"/>
            <a:ext cx="2095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295400"/>
            <a:ext cx="118110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2209800"/>
            <a:ext cx="4286250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7375" y="2395538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2209800"/>
            <a:ext cx="428625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2388831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3733800"/>
            <a:ext cx="4286250" cy="1562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6900" y="3919537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733800"/>
            <a:ext cx="4286250" cy="1562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919537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" y="5581650"/>
            <a:ext cx="11811000" cy="4476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0" y="4762500"/>
            <a:ext cx="1905000" cy="1905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4943475"/>
            <a:ext cx="457200" cy="457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" y="38100"/>
            <a:ext cx="26935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Întrebări și Răspunsuri - OldBank</a:t>
            </a:r>
            <a:endParaRPr lang="en-US" sz="1200" dirty="0"/>
          </a:p>
        </p:txBody>
      </p:sp>
      <p:sp>
        <p:nvSpPr>
          <p:cNvPr id="23" name="Text 1"/>
          <p:cNvSpPr/>
          <p:nvPr/>
        </p:nvSpPr>
        <p:spPr>
          <a:xfrm>
            <a:off x="11473309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_</a:t>
            </a:r>
            <a:endParaRPr lang="en-US" sz="1200" dirty="0"/>
          </a:p>
        </p:txBody>
      </p:sp>
      <p:sp>
        <p:nvSpPr>
          <p:cNvPr id="24" name="Text 2"/>
          <p:cNvSpPr/>
          <p:nvPr/>
        </p:nvSpPr>
        <p:spPr>
          <a:xfrm>
            <a:off x="11717238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□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1966525" y="47625"/>
            <a:ext cx="209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×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90500" y="495300"/>
            <a:ext cx="118110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Întrebări și Răspunsuri</a:t>
            </a:r>
            <a:endParaRPr lang="en-US" sz="2700" dirty="0"/>
          </a:p>
        </p:txBody>
      </p:sp>
      <p:sp>
        <p:nvSpPr>
          <p:cNvPr id="27" name="Text 5"/>
          <p:cNvSpPr/>
          <p:nvPr/>
        </p:nvSpPr>
        <p:spPr>
          <a:xfrm>
            <a:off x="-975049" y="1351578"/>
            <a:ext cx="14173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Sesiune interactivă pentru clarificări și discuții despre proiectul OldBank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2124075" y="2352675"/>
            <a:ext cx="48006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Cum funcționează autentificarea în OldBank?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2124075" y="2686050"/>
            <a:ext cx="3733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 utilizează un sistem de autentificare sigur, cu opțiuni de login/register robuste, menținând estetica Windows 98.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600825" y="2352675"/>
            <a:ext cx="40005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Care sunt beneficiile utilizării unei interfețe retro?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6600825" y="2690327"/>
            <a:ext cx="3733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Interfața retro oferă familiaritate și ușurință de utilizare, combinând nostalgia cu funcționalitatea modernă.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2124075" y="3876675"/>
            <a:ext cx="372427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Cum se integrează funcționalitățile bancare cu cea de recrutare?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2114550" y="4467225"/>
            <a:ext cx="3733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OldBank combinează funcționalitățile bancare simulate cu un portal de recrutare, toate într-o singură interfață.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6600825" y="3876675"/>
            <a:ext cx="387667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Ce tehnologii au fost folosite pentru implementare?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6624638" y="4208106"/>
            <a:ext cx="3733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Backend: Java Spring Boot, PostgreSQL, Docker. Frontend: React + TypeScript, 98.css pentru estetica Windows 98.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-990600" y="5640744"/>
            <a:ext cx="14173200" cy="4476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00008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Pentru întrebări suplimentare, contactați-ne la: contact@oldbank.ro</a:t>
            </a:r>
            <a:endParaRPr lang="en-US" sz="1350" dirty="0"/>
          </a:p>
        </p:txBody>
      </p:sp>
      <p:sp>
        <p:nvSpPr>
          <p:cNvPr id="37" name="Text 15"/>
          <p:cNvSpPr/>
          <p:nvPr/>
        </p:nvSpPr>
        <p:spPr>
          <a:xfrm>
            <a:off x="10191750" y="5638800"/>
            <a:ext cx="17145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S Sans Serif" pitchFamily="34" charset="0"/>
                <a:ea typeface="MS Sans Serif" pitchFamily="34" charset="-122"/>
                <a:cs typeface="MS Sans Serif" pitchFamily="34" charset="-120"/>
              </a:rPr>
              <a:t>Am putea să discutăm despre OldBank mai târziu!</a:t>
            </a:r>
            <a:endParaRPr lang="en-US" sz="10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B1F610-DE2A-EECC-62A5-EE738BC0301C}"/>
              </a:ext>
            </a:extLst>
          </p:cNvPr>
          <p:cNvSpPr txBox="1"/>
          <p:nvPr/>
        </p:nvSpPr>
        <p:spPr>
          <a:xfrm>
            <a:off x="190500" y="6306522"/>
            <a:ext cx="20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78CBE1-9A59-6344-7669-4A1E35FFEB36}"/>
              </a:ext>
            </a:extLst>
          </p:cNvPr>
          <p:cNvSpPr txBox="1"/>
          <p:nvPr/>
        </p:nvSpPr>
        <p:spPr>
          <a:xfrm>
            <a:off x="190498" y="6527211"/>
            <a:ext cx="388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Go to settings to Activate Windows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713</Words>
  <Application>Microsoft Office PowerPoint</Application>
  <PresentationFormat>Widescreen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MS Sans Serif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Mihai-Daniel LEMNARU (132775)</cp:lastModifiedBy>
  <cp:revision>17</cp:revision>
  <dcterms:created xsi:type="dcterms:W3CDTF">2025-12-06T21:43:26Z</dcterms:created>
  <dcterms:modified xsi:type="dcterms:W3CDTF">2025-12-06T23:20:15Z</dcterms:modified>
</cp:coreProperties>
</file>